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65" r:id="rId4"/>
    <p:sldId id="260" r:id="rId5"/>
    <p:sldId id="259" r:id="rId6"/>
    <p:sldId id="263" r:id="rId7"/>
    <p:sldId id="257" r:id="rId8"/>
    <p:sldId id="266" r:id="rId9"/>
    <p:sldId id="267" r:id="rId10"/>
    <p:sldId id="268" r:id="rId11"/>
    <p:sldId id="273" r:id="rId12"/>
    <p:sldId id="274" r:id="rId13"/>
    <p:sldId id="269" r:id="rId14"/>
    <p:sldId id="271" r:id="rId15"/>
    <p:sldId id="272" r:id="rId16"/>
    <p:sldId id="270" r:id="rId17"/>
    <p:sldId id="27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6C40B-B3D0-5940-7BA7-4F92DEF12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DA07D4-06E7-0680-0F98-53E169C56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4C78CB-FBB4-6D0A-03B9-12C88F7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FF2F8B-ACEE-DB58-05AD-A5FADC42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666CFE-7D74-52B4-13A0-E3CCB7D8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9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65751-E378-028A-2E85-59227DD9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26E757-C44B-00C1-F8FB-CAC84AA4F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8A0566-9A7C-2199-9747-456CA4F4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95427D-C2A8-A36B-D4EC-28A81921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4AE71-8375-C848-9B47-81E16E76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30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ED02A-0D16-6683-C572-EE85D60B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613E0F-69DC-1208-A128-5D39C83B8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2EF9B1-6233-B2D7-6401-009131E7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16C1A4-1628-CBC1-4458-F7AD6C56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1B8A32-9766-609E-06FC-A217B076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61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77051-E3C7-AE90-6D33-F6E6F9B5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70F26-D184-2469-A5CE-775A28F74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7A3C48-4A42-47C7-F595-6E0ABC22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29FAE7-8852-442A-72EA-D8F75020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3AD3F9-B887-E61F-415C-7E7BE071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FD1D2-F850-6003-D228-2A76B20B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94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0019B-91A1-AEEE-D2EE-AE8C332B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A31610-BDCF-68E8-D04F-6BEE82984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18E000-1AD9-A866-C66B-8A0A749BC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77E12C-F244-7C18-A521-9657CD145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AF0BB0-4560-292C-27D4-E6DA8C28F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046ED1-0553-1508-C14A-D24CF0C6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B57410-1C64-BB76-3414-11C5BC39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9BC27C-5B92-FCA5-BE4C-69E861E2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90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CE11B-D78B-2091-235F-9730A8CB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340E5D-4912-8428-6451-9328B9CA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CA40C6-135B-9086-00A3-CB5D0DDF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2F6F1C-2BEC-8753-B6C1-DE0A59E2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85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DF12B3-5309-663E-E081-80D3B232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F76A0A-00E7-8364-D24C-0A5EB6F0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130D5C-6A15-A584-5955-EAF3E439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80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CA98D-DE40-0AE0-EF1D-9CD57BED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559E5-A7D4-B09D-44A9-CD76C4DE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CE25D7-57D3-BBE3-C360-028D1A50F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9B3D84-3F8E-193B-0FBA-C7FE410D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7FD180-4053-C7E6-F623-976DADF1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E6494C-D997-4041-77C7-C9C3918A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56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ACE9D-0A42-664F-901C-89AF23553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E97326-2E80-BEE7-6F8F-8092D9246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FBF1A4-4841-7475-A93F-33EBDCDDA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BEDC37-051E-1172-B015-F2F91076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C218EF-57CC-CB6F-F034-349C3E5A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FAD816-CB89-8798-C361-81884133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37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466CA-0008-B83B-7FC9-2B79A857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BAD94F-833D-EAEC-9B52-C603A03F2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03C805-6112-6A6F-32DA-0EAE013D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24B13C-5248-5E62-DEA3-7CC34FF3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97F23-33AB-39F5-A4C3-6CFB362F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97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711787-129F-BE91-FB7F-38E5AC189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CFDBFB-5963-1CFC-994F-3A5AC9FA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EC0ADA-9ACD-8ED1-9E1B-E8D5D051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6E6E4-8E34-ED77-0B88-049C31B08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76CB1D-0793-13FF-8BBB-F4E45209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96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BFAE5E-2698-A410-CB7D-2356B9E5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A93D4C-FF94-7594-0E31-A33D66522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CE2E01-AE93-56E9-A2BF-F64C8BF97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DE059-A13F-42FC-9DC6-21337DFCECE0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43C41-1D9F-E1EC-0AFC-25B652262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CD5326-8270-6966-DB5F-BCD8E4B66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E12DE-DFA7-4472-9D3C-4128FB7BE1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10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DF39-09CB-80BD-F7FC-28FAE0581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Métodos em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0963B-C279-6364-3CCD-1D96012FA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(funções e procedimentos)</a:t>
            </a:r>
          </a:p>
        </p:txBody>
      </p:sp>
    </p:spTree>
    <p:extLst>
      <p:ext uri="{BB962C8B-B14F-4D97-AF65-F5344CB8AC3E}">
        <p14:creationId xmlns:p14="http://schemas.microsoft.com/office/powerpoint/2010/main" val="294568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D275BE8-4EB7-692D-D38E-58532F7DA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18" y="2812006"/>
            <a:ext cx="7799797" cy="358981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D0E79F2-6CE3-49FB-2C58-24B31C2480C7}"/>
              </a:ext>
            </a:extLst>
          </p:cNvPr>
          <p:cNvSpPr txBox="1"/>
          <p:nvPr/>
        </p:nvSpPr>
        <p:spPr>
          <a:xfrm>
            <a:off x="983672" y="681427"/>
            <a:ext cx="103354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effectLst/>
                <a:latin typeface="__Montserrat_069ab3"/>
              </a:rPr>
              <a:t>Em Java, as funções/procedimentos são conhecidas como </a:t>
            </a:r>
            <a:r>
              <a:rPr lang="pt-BR" sz="2400" b="1" i="0" dirty="0">
                <a:effectLst/>
                <a:latin typeface="__Montserrat_069ab3"/>
              </a:rPr>
              <a:t>métodos</a:t>
            </a:r>
            <a:r>
              <a:rPr lang="pt-BR" sz="2400" b="0" i="0" dirty="0">
                <a:effectLst/>
                <a:latin typeface="__Montserrat_069ab3"/>
              </a:rPr>
              <a:t>. Eles são blocos de código que realizam uma tarefa específica e podem ser chamados repetidamente. Neste artigo, iremos explorar o conceito, benefícios e como usar funções (ou métodos) em Java.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4064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9E863F9-C2FB-C16A-E847-8FD2346A9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88" y="856669"/>
            <a:ext cx="9830231" cy="309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4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ED33419-5A20-1B33-E4AD-77CE4AD87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63" y="897278"/>
            <a:ext cx="8869510" cy="48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0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CE1293F-01DB-65EE-D3A5-03123A47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07" y="179015"/>
            <a:ext cx="9790847" cy="4990268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9F65BBB-9BE7-FCBB-B136-F3B24BF2D2CA}"/>
              </a:ext>
            </a:extLst>
          </p:cNvPr>
          <p:cNvCxnSpPr/>
          <p:nvPr/>
        </p:nvCxnSpPr>
        <p:spPr>
          <a:xfrm>
            <a:off x="1302327" y="2604655"/>
            <a:ext cx="53201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5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7E0A194-F722-9651-C8AF-B6720067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34" y="483880"/>
            <a:ext cx="8596619" cy="4587350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6E43118-E61A-B61D-9DB1-6EDFD98A8613}"/>
              </a:ext>
            </a:extLst>
          </p:cNvPr>
          <p:cNvSpPr/>
          <p:nvPr/>
        </p:nvSpPr>
        <p:spPr>
          <a:xfrm>
            <a:off x="955962" y="2998588"/>
            <a:ext cx="6954981" cy="18703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A1C5B98-8E7E-F941-DFE7-9CD1587F1DFC}"/>
              </a:ext>
            </a:extLst>
          </p:cNvPr>
          <p:cNvSpPr/>
          <p:nvPr/>
        </p:nvSpPr>
        <p:spPr>
          <a:xfrm>
            <a:off x="955963" y="1735835"/>
            <a:ext cx="6954981" cy="1083923"/>
          </a:xfrm>
          <a:prstGeom prst="round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12746E-9BAA-4555-C832-3DB9DF5CE214}"/>
              </a:ext>
            </a:extLst>
          </p:cNvPr>
          <p:cNvSpPr txBox="1"/>
          <p:nvPr/>
        </p:nvSpPr>
        <p:spPr>
          <a:xfrm>
            <a:off x="8215529" y="3933770"/>
            <a:ext cx="1121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Principal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1F8F26-0FA0-A77B-FE88-18B45DA24D34}"/>
              </a:ext>
            </a:extLst>
          </p:cNvPr>
          <p:cNvSpPr txBox="1"/>
          <p:nvPr/>
        </p:nvSpPr>
        <p:spPr>
          <a:xfrm>
            <a:off x="8193475" y="1693632"/>
            <a:ext cx="983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Método</a:t>
            </a:r>
          </a:p>
        </p:txBody>
      </p:sp>
    </p:spTree>
    <p:extLst>
      <p:ext uri="{BB962C8B-B14F-4D97-AF65-F5344CB8AC3E}">
        <p14:creationId xmlns:p14="http://schemas.microsoft.com/office/powerpoint/2010/main" val="146524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8BEB2EC-A4EC-F729-BFBF-03ABF397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81" y="249893"/>
            <a:ext cx="8640920" cy="4842006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46BE279-D993-5CEB-0220-36FACF3C460A}"/>
              </a:ext>
            </a:extLst>
          </p:cNvPr>
          <p:cNvCxnSpPr/>
          <p:nvPr/>
        </p:nvCxnSpPr>
        <p:spPr>
          <a:xfrm>
            <a:off x="1219197" y="2784766"/>
            <a:ext cx="53201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89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EE8C28-64B0-A357-5706-BC1E8A33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61" y="845321"/>
            <a:ext cx="9144617" cy="4023631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6E43118-E61A-B61D-9DB1-6EDFD98A8613}"/>
              </a:ext>
            </a:extLst>
          </p:cNvPr>
          <p:cNvSpPr/>
          <p:nvPr/>
        </p:nvSpPr>
        <p:spPr>
          <a:xfrm>
            <a:off x="449526" y="2998588"/>
            <a:ext cx="8821083" cy="18703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A1C5B98-8E7E-F941-DFE7-9CD1587F1DFC}"/>
              </a:ext>
            </a:extLst>
          </p:cNvPr>
          <p:cNvSpPr/>
          <p:nvPr/>
        </p:nvSpPr>
        <p:spPr>
          <a:xfrm>
            <a:off x="435456" y="1758461"/>
            <a:ext cx="6954981" cy="976890"/>
          </a:xfrm>
          <a:prstGeom prst="round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12746E-9BAA-4555-C832-3DB9DF5CE214}"/>
              </a:ext>
            </a:extLst>
          </p:cNvPr>
          <p:cNvSpPr txBox="1"/>
          <p:nvPr/>
        </p:nvSpPr>
        <p:spPr>
          <a:xfrm>
            <a:off x="9692638" y="3933770"/>
            <a:ext cx="1121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Principal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1F8F26-0FA0-A77B-FE88-18B45DA24D34}"/>
              </a:ext>
            </a:extLst>
          </p:cNvPr>
          <p:cNvSpPr txBox="1"/>
          <p:nvPr/>
        </p:nvSpPr>
        <p:spPr>
          <a:xfrm>
            <a:off x="9670584" y="1693632"/>
            <a:ext cx="983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Método</a:t>
            </a:r>
          </a:p>
        </p:txBody>
      </p:sp>
    </p:spTree>
    <p:extLst>
      <p:ext uri="{BB962C8B-B14F-4D97-AF65-F5344CB8AC3E}">
        <p14:creationId xmlns:p14="http://schemas.microsoft.com/office/powerpoint/2010/main" val="346400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352ED90-54B5-A8CB-88E3-55DE9E7E0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04" y="287121"/>
            <a:ext cx="10667640" cy="535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9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0B772-FF14-AF54-C9D5-9D6311A2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 com Métodos (JAVA)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BCCAD7-F3C6-023F-D664-E6C6C66B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0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1) Calculadora com menu</a:t>
            </a:r>
          </a:p>
          <a:p>
            <a:pPr marL="0" indent="0" algn="just">
              <a:buNone/>
            </a:pPr>
            <a:r>
              <a:rPr lang="pt-BR" sz="2400" dirty="0"/>
              <a:t>Criar um programa JAVA que contenha métodos para: </a:t>
            </a:r>
            <a:r>
              <a:rPr lang="pt-BR" sz="2400" b="1" dirty="0"/>
              <a:t>somar, subtrair, multiplicar e dividir.   </a:t>
            </a:r>
            <a:r>
              <a:rPr lang="pt-BR" sz="2400" dirty="0"/>
              <a:t>O programa deve pedir ao usuário dois números e a operação desejada. Após calcular e mostrar resultado da operação.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85980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4669892-0B2B-8CF8-C4E5-A32654176F89}"/>
              </a:ext>
            </a:extLst>
          </p:cNvPr>
          <p:cNvSpPr txBox="1"/>
          <p:nvPr/>
        </p:nvSpPr>
        <p:spPr>
          <a:xfrm>
            <a:off x="432581" y="211764"/>
            <a:ext cx="609834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java.util.Scanner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Calculadora</a:t>
            </a:r>
            <a:r>
              <a:rPr lang="pt-BR" dirty="0"/>
              <a:t> {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b="1" dirty="0"/>
              <a:t>somar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a, </a:t>
            </a:r>
            <a:r>
              <a:rPr lang="pt-BR" dirty="0" err="1"/>
              <a:t>double</a:t>
            </a:r>
            <a:r>
              <a:rPr lang="pt-BR" dirty="0"/>
              <a:t> b) {</a:t>
            </a:r>
            <a:br>
              <a:rPr lang="pt-BR" dirty="0"/>
            </a:br>
            <a:r>
              <a:rPr lang="pt-BR" dirty="0" err="1"/>
              <a:t>return</a:t>
            </a:r>
            <a:r>
              <a:rPr lang="pt-BR" dirty="0"/>
              <a:t> a + b;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b="1" dirty="0"/>
              <a:t>subtrair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a, </a:t>
            </a:r>
            <a:r>
              <a:rPr lang="pt-BR" dirty="0" err="1"/>
              <a:t>double</a:t>
            </a:r>
            <a:r>
              <a:rPr lang="pt-BR" dirty="0"/>
              <a:t> b) {</a:t>
            </a:r>
            <a:br>
              <a:rPr lang="pt-BR" dirty="0"/>
            </a:br>
            <a:r>
              <a:rPr lang="pt-BR" dirty="0" err="1"/>
              <a:t>return</a:t>
            </a:r>
            <a:r>
              <a:rPr lang="pt-BR" dirty="0"/>
              <a:t> a - b;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b="1" dirty="0"/>
              <a:t>multiplicar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a, </a:t>
            </a:r>
            <a:r>
              <a:rPr lang="pt-BR" dirty="0" err="1"/>
              <a:t>double</a:t>
            </a:r>
            <a:r>
              <a:rPr lang="pt-BR" dirty="0"/>
              <a:t> b) {</a:t>
            </a:r>
            <a:br>
              <a:rPr lang="pt-BR" dirty="0"/>
            </a:br>
            <a:r>
              <a:rPr lang="pt-BR" dirty="0" err="1"/>
              <a:t>return</a:t>
            </a:r>
            <a:r>
              <a:rPr lang="pt-BR" dirty="0"/>
              <a:t> a * b;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b="1" dirty="0"/>
              <a:t>dividir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a, </a:t>
            </a:r>
            <a:r>
              <a:rPr lang="pt-BR" dirty="0" err="1"/>
              <a:t>double</a:t>
            </a:r>
            <a:r>
              <a:rPr lang="pt-BR" dirty="0"/>
              <a:t> b) {</a:t>
            </a:r>
            <a:br>
              <a:rPr lang="pt-BR" dirty="0"/>
            </a:br>
            <a:r>
              <a:rPr lang="pt-BR" dirty="0" err="1"/>
              <a:t>if</a:t>
            </a:r>
            <a:r>
              <a:rPr lang="pt-BR" dirty="0"/>
              <a:t> (b == 0) {</a:t>
            </a:r>
            <a:br>
              <a:rPr lang="pt-BR" dirty="0"/>
            </a:br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("Erro: divisão por zero!");</a:t>
            </a:r>
            <a:br>
              <a:rPr lang="pt-BR" dirty="0"/>
            </a:br>
            <a:r>
              <a:rPr lang="pt-BR" dirty="0" err="1"/>
              <a:t>return</a:t>
            </a:r>
            <a:r>
              <a:rPr lang="pt-BR" dirty="0"/>
              <a:t> 0;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return</a:t>
            </a:r>
            <a:r>
              <a:rPr lang="pt-BR" dirty="0"/>
              <a:t> a / b;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8E0384-2EF1-9273-C087-7CE0C478A68D}"/>
              </a:ext>
            </a:extLst>
          </p:cNvPr>
          <p:cNvSpPr txBox="1"/>
          <p:nvPr/>
        </p:nvSpPr>
        <p:spPr>
          <a:xfrm>
            <a:off x="6400800" y="574622"/>
            <a:ext cx="609834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 err="1"/>
              <a:t>public</a:t>
            </a:r>
            <a:r>
              <a:rPr lang="pt-BR" sz="1700" dirty="0"/>
              <a:t> </a:t>
            </a:r>
            <a:r>
              <a:rPr lang="pt-BR" sz="1700" dirty="0" err="1"/>
              <a:t>static</a:t>
            </a:r>
            <a:r>
              <a:rPr lang="pt-BR" sz="1700" dirty="0"/>
              <a:t> </a:t>
            </a:r>
            <a:r>
              <a:rPr lang="pt-BR" sz="1700" dirty="0" err="1"/>
              <a:t>void</a:t>
            </a:r>
            <a:r>
              <a:rPr lang="pt-BR" sz="1700" dirty="0"/>
              <a:t> </a:t>
            </a:r>
            <a:r>
              <a:rPr lang="pt-BR" sz="1700" dirty="0" err="1"/>
              <a:t>main</a:t>
            </a:r>
            <a:r>
              <a:rPr lang="pt-BR" sz="1700" dirty="0"/>
              <a:t>(</a:t>
            </a:r>
            <a:r>
              <a:rPr lang="pt-BR" sz="1700" dirty="0" err="1"/>
              <a:t>String</a:t>
            </a:r>
            <a:r>
              <a:rPr lang="pt-BR" sz="1700" dirty="0"/>
              <a:t>[] </a:t>
            </a:r>
            <a:r>
              <a:rPr lang="pt-BR" sz="1700" dirty="0" err="1"/>
              <a:t>args</a:t>
            </a:r>
            <a:r>
              <a:rPr lang="pt-BR" sz="1700" dirty="0"/>
              <a:t>) {</a:t>
            </a:r>
            <a:br>
              <a:rPr lang="pt-BR" sz="1700" dirty="0"/>
            </a:br>
            <a:r>
              <a:rPr lang="pt-BR" sz="1700" dirty="0"/>
              <a:t>Scanner </a:t>
            </a:r>
            <a:r>
              <a:rPr lang="pt-BR" sz="1700" dirty="0" err="1"/>
              <a:t>sc</a:t>
            </a:r>
            <a:r>
              <a:rPr lang="pt-BR" sz="1700" dirty="0"/>
              <a:t> = new Scanner(System.in);</a:t>
            </a:r>
            <a:br>
              <a:rPr lang="pt-BR" sz="1700" dirty="0"/>
            </a:br>
            <a:r>
              <a:rPr lang="pt-BR" sz="1700" dirty="0" err="1"/>
              <a:t>double</a:t>
            </a:r>
            <a:r>
              <a:rPr lang="pt-BR" sz="1700" dirty="0"/>
              <a:t> num1, num2, resultado = 0;</a:t>
            </a:r>
            <a:br>
              <a:rPr lang="pt-BR" sz="1700" dirty="0"/>
            </a:br>
            <a:r>
              <a:rPr lang="pt-BR" sz="1700" dirty="0" err="1"/>
              <a:t>int</a:t>
            </a:r>
            <a:r>
              <a:rPr lang="pt-BR" sz="1700" dirty="0"/>
              <a:t> </a:t>
            </a:r>
            <a:r>
              <a:rPr lang="pt-BR" sz="1700" dirty="0" err="1"/>
              <a:t>opcao</a:t>
            </a:r>
            <a:r>
              <a:rPr lang="pt-BR" sz="1700" dirty="0"/>
              <a:t>;</a:t>
            </a:r>
            <a:br>
              <a:rPr lang="pt-BR" sz="1700" dirty="0"/>
            </a:br>
            <a:r>
              <a:rPr lang="pt-BR" sz="1700" dirty="0" err="1"/>
              <a:t>System.out.print</a:t>
            </a:r>
            <a:r>
              <a:rPr lang="pt-BR" sz="1700" dirty="0"/>
              <a:t>("Digite o primeiro número: ");</a:t>
            </a:r>
            <a:br>
              <a:rPr lang="pt-BR" sz="1700" dirty="0"/>
            </a:br>
            <a:r>
              <a:rPr lang="pt-BR" sz="1700" dirty="0"/>
              <a:t>num1 = </a:t>
            </a:r>
            <a:r>
              <a:rPr lang="pt-BR" sz="1700" dirty="0" err="1"/>
              <a:t>sc.nextDouble</a:t>
            </a:r>
            <a:r>
              <a:rPr lang="pt-BR" sz="1700" dirty="0"/>
              <a:t>();</a:t>
            </a:r>
            <a:br>
              <a:rPr lang="pt-BR" sz="1700" dirty="0"/>
            </a:br>
            <a:r>
              <a:rPr lang="pt-BR" sz="1700" dirty="0" err="1"/>
              <a:t>System.out.print</a:t>
            </a:r>
            <a:r>
              <a:rPr lang="pt-BR" sz="1700" dirty="0"/>
              <a:t>("Digite o segundo número: ");</a:t>
            </a:r>
            <a:br>
              <a:rPr lang="pt-BR" sz="1700" dirty="0"/>
            </a:br>
            <a:r>
              <a:rPr lang="pt-BR" sz="1700" dirty="0"/>
              <a:t>num2 = </a:t>
            </a:r>
            <a:r>
              <a:rPr lang="pt-BR" sz="1700" dirty="0" err="1"/>
              <a:t>sc.nextDouble</a:t>
            </a:r>
            <a:r>
              <a:rPr lang="pt-BR" sz="1700" dirty="0"/>
              <a:t>();</a:t>
            </a:r>
            <a:br>
              <a:rPr lang="pt-BR" sz="1700" dirty="0"/>
            </a:br>
            <a:r>
              <a:rPr lang="pt-BR" sz="1700" dirty="0" err="1"/>
              <a:t>System.out.println</a:t>
            </a:r>
            <a:r>
              <a:rPr lang="pt-BR" sz="1700" dirty="0"/>
              <a:t>("\</a:t>
            </a:r>
            <a:r>
              <a:rPr lang="pt-BR" sz="1700" dirty="0" err="1"/>
              <a:t>nEscolha</a:t>
            </a:r>
            <a:r>
              <a:rPr lang="pt-BR" sz="1700" dirty="0"/>
              <a:t> a operação:");</a:t>
            </a:r>
            <a:br>
              <a:rPr lang="pt-BR" sz="1700" dirty="0"/>
            </a:br>
            <a:r>
              <a:rPr lang="pt-BR" sz="1700" dirty="0" err="1"/>
              <a:t>System.out.println</a:t>
            </a:r>
            <a:r>
              <a:rPr lang="pt-BR" sz="1700" dirty="0"/>
              <a:t>("1 – Somar ");</a:t>
            </a:r>
            <a:br>
              <a:rPr lang="pt-BR" sz="1700" dirty="0"/>
            </a:br>
            <a:r>
              <a:rPr lang="pt-BR" sz="1700" dirty="0" err="1"/>
              <a:t>System.out.println</a:t>
            </a:r>
            <a:r>
              <a:rPr lang="pt-BR" sz="1700" dirty="0"/>
              <a:t>("2 – Subtrair ");</a:t>
            </a:r>
            <a:br>
              <a:rPr lang="pt-BR" sz="1700" dirty="0"/>
            </a:br>
            <a:r>
              <a:rPr lang="pt-BR" sz="1700" dirty="0" err="1"/>
              <a:t>System.out.println</a:t>
            </a:r>
            <a:r>
              <a:rPr lang="pt-BR" sz="1700" dirty="0"/>
              <a:t>("3 – Multiplicar ");</a:t>
            </a:r>
            <a:br>
              <a:rPr lang="pt-BR" sz="1700" dirty="0"/>
            </a:br>
            <a:r>
              <a:rPr lang="pt-BR" sz="1700" dirty="0" err="1"/>
              <a:t>System.out.println</a:t>
            </a:r>
            <a:r>
              <a:rPr lang="pt-BR" sz="1700" dirty="0"/>
              <a:t>("4 – Dividir ");</a:t>
            </a:r>
            <a:br>
              <a:rPr lang="pt-BR" sz="1700" dirty="0"/>
            </a:br>
            <a:r>
              <a:rPr lang="pt-BR" sz="1700" dirty="0" err="1"/>
              <a:t>System.out.print</a:t>
            </a:r>
            <a:r>
              <a:rPr lang="pt-BR" sz="1700" dirty="0"/>
              <a:t>("Opção: ");</a:t>
            </a:r>
            <a:br>
              <a:rPr lang="pt-BR" sz="1700" dirty="0"/>
            </a:br>
            <a:r>
              <a:rPr lang="pt-BR" sz="1700" dirty="0" err="1"/>
              <a:t>opcao</a:t>
            </a:r>
            <a:r>
              <a:rPr lang="pt-BR" sz="1700" dirty="0"/>
              <a:t> = </a:t>
            </a:r>
            <a:r>
              <a:rPr lang="pt-BR" sz="1700" dirty="0" err="1"/>
              <a:t>sc.nextInt</a:t>
            </a:r>
            <a:r>
              <a:rPr lang="pt-BR" sz="1700" dirty="0"/>
              <a:t>();</a:t>
            </a:r>
            <a:br>
              <a:rPr lang="pt-BR" sz="1700" dirty="0"/>
            </a:br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414021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399763-5A68-6C0E-D68B-1087764949EF}"/>
              </a:ext>
            </a:extLst>
          </p:cNvPr>
          <p:cNvSpPr txBox="1"/>
          <p:nvPr/>
        </p:nvSpPr>
        <p:spPr>
          <a:xfrm>
            <a:off x="914400" y="187688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switch (</a:t>
            </a:r>
            <a:r>
              <a:rPr lang="pt-BR" sz="1800" dirty="0" err="1"/>
              <a:t>opcao</a:t>
            </a:r>
            <a:r>
              <a:rPr lang="pt-BR" sz="1800" dirty="0"/>
              <a:t>) {</a:t>
            </a:r>
            <a:br>
              <a:rPr lang="pt-BR" sz="1800" dirty="0"/>
            </a:br>
            <a:r>
              <a:rPr lang="pt-BR" sz="1800" dirty="0"/>
              <a:t>case 1:</a:t>
            </a:r>
            <a:br>
              <a:rPr lang="pt-BR" sz="1800" dirty="0"/>
            </a:br>
            <a:r>
              <a:rPr lang="pt-BR" sz="1800" dirty="0"/>
              <a:t>	resultado = </a:t>
            </a:r>
            <a:r>
              <a:rPr lang="pt-BR" sz="1800" b="1" dirty="0"/>
              <a:t>somar</a:t>
            </a:r>
            <a:r>
              <a:rPr lang="pt-BR" sz="1800" dirty="0"/>
              <a:t>(num1, num2);</a:t>
            </a:r>
            <a:br>
              <a:rPr lang="pt-BR" sz="1800" dirty="0"/>
            </a:br>
            <a:r>
              <a:rPr lang="pt-BR" sz="1800" dirty="0"/>
              <a:t>break;</a:t>
            </a:r>
            <a:br>
              <a:rPr lang="pt-BR" sz="1800" dirty="0"/>
            </a:br>
            <a:r>
              <a:rPr lang="pt-BR" sz="1800" dirty="0"/>
              <a:t>case 2:</a:t>
            </a:r>
            <a:br>
              <a:rPr lang="pt-BR" sz="1800" dirty="0"/>
            </a:br>
            <a:r>
              <a:rPr lang="pt-BR" sz="1800" dirty="0"/>
              <a:t>	resultado = </a:t>
            </a:r>
            <a:r>
              <a:rPr lang="pt-BR" sz="1800" b="1" dirty="0"/>
              <a:t>subtrair</a:t>
            </a:r>
            <a:r>
              <a:rPr lang="pt-BR" sz="1800" dirty="0"/>
              <a:t>(num1, num2);</a:t>
            </a:r>
            <a:br>
              <a:rPr lang="pt-BR" sz="1800" dirty="0"/>
            </a:br>
            <a:r>
              <a:rPr lang="pt-BR" sz="1800" dirty="0"/>
              <a:t>break;</a:t>
            </a:r>
            <a:br>
              <a:rPr lang="pt-BR" sz="1800" dirty="0"/>
            </a:br>
            <a:r>
              <a:rPr lang="pt-BR" sz="1800" dirty="0"/>
              <a:t>case 3:</a:t>
            </a:r>
            <a:br>
              <a:rPr lang="pt-BR" sz="1800" dirty="0"/>
            </a:br>
            <a:r>
              <a:rPr lang="pt-BR" sz="1800" dirty="0"/>
              <a:t>	resultado = </a:t>
            </a:r>
            <a:r>
              <a:rPr lang="pt-BR" sz="1800" b="1" dirty="0"/>
              <a:t>multiplicar</a:t>
            </a:r>
            <a:r>
              <a:rPr lang="pt-BR" sz="1800" dirty="0"/>
              <a:t>(num1, num2);</a:t>
            </a:r>
            <a:br>
              <a:rPr lang="pt-BR" sz="1800" dirty="0"/>
            </a:br>
            <a:r>
              <a:rPr lang="pt-BR" sz="1800" dirty="0"/>
              <a:t>break;</a:t>
            </a:r>
            <a:br>
              <a:rPr lang="pt-BR" sz="1800" dirty="0"/>
            </a:br>
            <a:r>
              <a:rPr lang="pt-BR" sz="1800" dirty="0"/>
              <a:t>case 4:</a:t>
            </a:r>
            <a:br>
              <a:rPr lang="pt-BR" sz="1800" dirty="0"/>
            </a:br>
            <a:r>
              <a:rPr lang="pt-BR" sz="1800" dirty="0"/>
              <a:t>	resultado = </a:t>
            </a:r>
            <a:r>
              <a:rPr lang="pt-BR" sz="1800" b="1" dirty="0"/>
              <a:t>dividir</a:t>
            </a:r>
            <a:r>
              <a:rPr lang="pt-BR" sz="1800" dirty="0"/>
              <a:t>(num1, num2);</a:t>
            </a:r>
            <a:br>
              <a:rPr lang="pt-BR" sz="1800" dirty="0"/>
            </a:br>
            <a:r>
              <a:rPr lang="pt-BR" sz="1800" dirty="0"/>
              <a:t>break;</a:t>
            </a:r>
            <a:br>
              <a:rPr lang="pt-BR" sz="1800" dirty="0"/>
            </a:br>
            <a:r>
              <a:rPr lang="pt-BR" sz="1800" dirty="0"/>
              <a:t>default:</a:t>
            </a:r>
            <a:br>
              <a:rPr lang="pt-BR" sz="1800" dirty="0"/>
            </a:br>
            <a:r>
              <a:rPr lang="pt-BR" sz="1800" dirty="0"/>
              <a:t>	</a:t>
            </a:r>
            <a:r>
              <a:rPr lang="pt-BR" sz="1800" dirty="0" err="1"/>
              <a:t>System.out.println</a:t>
            </a:r>
            <a:r>
              <a:rPr lang="pt-BR" sz="1800" dirty="0"/>
              <a:t>("Opção inválida!");</a:t>
            </a:r>
            <a:br>
              <a:rPr lang="pt-BR" sz="1800" dirty="0"/>
            </a:br>
            <a:r>
              <a:rPr lang="pt-BR" sz="1800" dirty="0" err="1"/>
              <a:t>return</a:t>
            </a:r>
            <a:r>
              <a:rPr lang="pt-BR" sz="1800" dirty="0"/>
              <a:t>;</a:t>
            </a:r>
            <a:br>
              <a:rPr lang="pt-BR" sz="1800" dirty="0"/>
            </a:br>
            <a:r>
              <a:rPr lang="pt-BR" sz="1800" dirty="0"/>
              <a:t>}</a:t>
            </a:r>
            <a:br>
              <a:rPr lang="pt-BR" sz="1800" dirty="0"/>
            </a:br>
            <a:r>
              <a:rPr lang="pt-BR" sz="1800" dirty="0" err="1"/>
              <a:t>System.out.println</a:t>
            </a:r>
            <a:r>
              <a:rPr lang="pt-BR" sz="1800" dirty="0"/>
              <a:t>("Resultado: " + resultado);</a:t>
            </a:r>
            <a:br>
              <a:rPr lang="pt-BR" sz="1800" dirty="0"/>
            </a:br>
            <a:r>
              <a:rPr lang="pt-BR" sz="1800" dirty="0" err="1"/>
              <a:t>sc.close</a:t>
            </a:r>
            <a:r>
              <a:rPr lang="pt-BR" sz="1800" dirty="0"/>
              <a:t>();</a:t>
            </a:r>
            <a:br>
              <a:rPr lang="pt-BR" sz="1800" dirty="0"/>
            </a:br>
            <a:r>
              <a:rPr lang="pt-BR" sz="1800" dirty="0"/>
              <a:t>}</a:t>
            </a:r>
            <a:br>
              <a:rPr lang="pt-BR" sz="1800" dirty="0"/>
            </a:br>
            <a:r>
              <a:rPr lang="pt-BR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0384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64F8280D-DCC9-9AA1-E6CF-DB7323544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7" y="214001"/>
            <a:ext cx="111275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Verificar número primo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JAVA que contenha uma função que receba um número inteiro e retorne se ele é primo ou não.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370E2A4-717D-C88D-163C-9997FC81B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7" y="1630674"/>
            <a:ext cx="107336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Fatorial de um número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JAVA que contenha uma função que calcule o fatorial de um número inteiro. O usuário entra com o numero e calcula.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55615B3D-DAC1-879F-E009-C9B52FE36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7" y="3112661"/>
            <a:ext cx="107336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Conversor de temperatura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JAVA que contenha  funções para converter temperaturas: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Celsius, Fahrenheit  e Kelvin   O usuário entra com a temperatura e escolhe a conversão.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B7E8999-D3C5-3B06-22A4-598A276ED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7" y="4963979"/>
            <a:ext cx="111275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/>
              <a:t>5. Tabuada de um número</a:t>
            </a: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JAVA que contenha</a:t>
            </a:r>
            <a:r>
              <a:rPr lang="pt-BR" sz="2400" dirty="0"/>
              <a:t> uma função que receba um número e imprima a tabuada dele de 1 a 10.</a:t>
            </a:r>
          </a:p>
        </p:txBody>
      </p:sp>
    </p:spTree>
    <p:extLst>
      <p:ext uri="{BB962C8B-B14F-4D97-AF65-F5344CB8AC3E}">
        <p14:creationId xmlns:p14="http://schemas.microsoft.com/office/powerpoint/2010/main" val="3429660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1960FFE-107E-7381-0198-76128A8CF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39" y="489168"/>
            <a:ext cx="1015687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7) Sistema de Aluno e Notas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Desenvolva um programa em Java que utilize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um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de opções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gerenciar informações dos</a:t>
            </a:r>
            <a:r>
              <a:rPr kumimoji="0" lang="pt-BR" altLang="pt-BR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alunos</a:t>
            </a:r>
            <a:r>
              <a:rPr lang="pt-BR" altLang="pt-BR" sz="2400" dirty="0">
                <a:latin typeface="Arial" panose="020B0604020202020204" pitchFamily="34" charset="0"/>
              </a:rPr>
              <a:t> (</a:t>
            </a:r>
            <a:r>
              <a:rPr lang="pt-BR" alt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array</a:t>
            </a:r>
            <a:r>
              <a:rPr lang="pt-BR" altLang="pt-BR" sz="2400" dirty="0">
                <a:latin typeface="Arial" panose="020B0604020202020204" pitchFamily="34" charset="0"/>
              </a:rPr>
              <a:t>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programa deve apresentar o seguinte menu: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1 - Cadastrar aluno (nome,</a:t>
            </a:r>
            <a:r>
              <a:rPr kumimoji="0" lang="pt-BR" altLang="pt-BR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disciplina)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2 - Informar notas (3)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3 - Calcular média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4 - Exibir situação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 – Sair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dirty="0">
                <a:latin typeface="Arial Unicode MS" panose="020B0604020202020204" pitchFamily="34" charset="-128"/>
              </a:rPr>
              <a:t>OBS: Armazenar informações usando ARRAY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813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9E56CFF-076F-158F-E1F3-59C678571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29" y="656275"/>
            <a:ext cx="1067737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8) Sistema de Vendedor e Comissão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Desenvolva um programa em Java que utilize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um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de opções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calcular a comissão dos vendedores</a:t>
            </a:r>
            <a:r>
              <a:rPr kumimoji="0" lang="pt-BR" altLang="pt-BR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2400" b="0" i="0" u="none" strike="noStrike" cap="none" normalizeH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pt-BR" altLang="pt-BR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programa deve apresentar o seguinte menu: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1 - Cadastrar vendedor  (nome e total</a:t>
            </a:r>
            <a:r>
              <a:rPr kumimoji="0" lang="pt-BR" altLang="pt-BR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vendas)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2 - Calcular comissão  (10% sobre vendas)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3 - Exibir dados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 – Sair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 Unicode MS" panose="020B0604020202020204" pitchFamily="34" charset="-128"/>
              </a:rPr>
              <a:t>OBS: Armazenar informações usando ARRAY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96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EFBAC2-6E5E-47F1-2213-E4885C627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81" y="810997"/>
            <a:ext cx="1028007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9) Desenvolva um programa em Java que utilize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 e um menu de opções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gerenciar informações de produtos.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programa deve apresentar o seguinte menu ao usuário: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1 - Cadastrar produto (nome)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2 - Calcular total (quantidade x preço)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3 - Exibir dados do produto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0 - Sair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6E0EAA-91F8-7158-4AC4-3EDF4E6101CE}"/>
              </a:ext>
            </a:extLst>
          </p:cNvPr>
          <p:cNvSpPr txBox="1"/>
          <p:nvPr/>
        </p:nvSpPr>
        <p:spPr>
          <a:xfrm>
            <a:off x="706581" y="45050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800" dirty="0">
                <a:latin typeface="Arial Unicode MS" panose="020B0604020202020204" pitchFamily="34" charset="-128"/>
              </a:rPr>
              <a:t>OBS: Armazenar informações usando ARRAY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004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D545FEA-CA62-D744-797D-0A1234885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62" y="806440"/>
            <a:ext cx="108065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10)</a:t>
            </a:r>
            <a:r>
              <a:rPr lang="pt-BR" altLang="pt-BR" sz="2400" dirty="0"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Desenvolva um programa em Java para uma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lanchonete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utilizando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 e um menu de opções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gerenciar os produtos vendidos.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sistema deve permitir o controle de produtos, quantidade e preço.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programa deve apresentar o seguinte menu: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1 - Cadastrar lanche (nome)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2 - Calcular total (quantidade x preço)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3 - Exibir dados do lanche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0 - Sair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5B0281-2BB7-1A4C-3B32-A9F70ABBD76D}"/>
              </a:ext>
            </a:extLst>
          </p:cNvPr>
          <p:cNvSpPr txBox="1"/>
          <p:nvPr/>
        </p:nvSpPr>
        <p:spPr>
          <a:xfrm>
            <a:off x="651162" y="50038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800" dirty="0">
                <a:latin typeface="Arial Unicode MS" panose="020B0604020202020204" pitchFamily="34" charset="-128"/>
              </a:rPr>
              <a:t>OBS: Armazenar informações usando ARRAY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7831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909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__Montserrat_069ab3</vt:lpstr>
      <vt:lpstr>Aptos</vt:lpstr>
      <vt:lpstr>Aptos Display</vt:lpstr>
      <vt:lpstr>Arial</vt:lpstr>
      <vt:lpstr>Arial Unicode MS</vt:lpstr>
      <vt:lpstr>Tema do Office</vt:lpstr>
      <vt:lpstr>Métodos em JAVA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Lista de exercícios com Métodos (JAVA)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Cristiane Pavei Fernandes</dc:creator>
  <cp:lastModifiedBy>Cristiane Pavei Fernandes</cp:lastModifiedBy>
  <cp:revision>20</cp:revision>
  <dcterms:created xsi:type="dcterms:W3CDTF">2026-04-16T15:31:28Z</dcterms:created>
  <dcterms:modified xsi:type="dcterms:W3CDTF">2026-04-16T19:38:55Z</dcterms:modified>
</cp:coreProperties>
</file>